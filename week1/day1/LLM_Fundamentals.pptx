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Newsreader"/>
      <p:regular r:id="rId29"/>
      <p:bold r:id="rId30"/>
      <p:italic r:id="rId31"/>
      <p:boldItalic r:id="rId32"/>
    </p:embeddedFont>
    <p:embeddedFont>
      <p:font typeface="DM Sans Light"/>
      <p:regular r:id="rId33"/>
      <p:bold r:id="rId34"/>
      <p:italic r:id="rId35"/>
      <p:boldItalic r:id="rId36"/>
    </p:embeddedFont>
    <p:embeddedFont>
      <p:font typeface="DM Sans SemiBold"/>
      <p:regular r:id="rId37"/>
      <p:bold r:id="rId38"/>
      <p:italic r:id="rId39"/>
      <p:boldItalic r:id="rId40"/>
    </p:embeddedFont>
    <p:embeddedFont>
      <p:font typeface="DM Sans"/>
      <p:regular r:id="rId41"/>
      <p:bold r:id="rId42"/>
      <p:italic r:id="rId43"/>
      <p:boldItalic r:id="rId44"/>
    </p:embeddedFont>
    <p:embeddedFont>
      <p:font typeface="Newsreader SemiBold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6D571A-89AF-411B-B43B-E98B456F6939}">
  <a:tblStyle styleId="{256D571A-89AF-411B-B43B-E98B456F693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9FB7442-EA88-444C-80B2-56679242800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SemiBold-boldItalic.fntdata"/><Relationship Id="rId42" Type="http://schemas.openxmlformats.org/officeDocument/2006/relationships/font" Target="fonts/DMSans-bold.fntdata"/><Relationship Id="rId41" Type="http://schemas.openxmlformats.org/officeDocument/2006/relationships/font" Target="fonts/DMSans-regular.fntdata"/><Relationship Id="rId44" Type="http://schemas.openxmlformats.org/officeDocument/2006/relationships/font" Target="fonts/DMSans-boldItalic.fntdata"/><Relationship Id="rId43" Type="http://schemas.openxmlformats.org/officeDocument/2006/relationships/font" Target="fonts/DMSans-italic.fntdata"/><Relationship Id="rId46" Type="http://schemas.openxmlformats.org/officeDocument/2006/relationships/font" Target="fonts/NewsreaderSemiBold-bold.fntdata"/><Relationship Id="rId45" Type="http://schemas.openxmlformats.org/officeDocument/2006/relationships/font" Target="fonts/Newsreader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NewsreaderSemiBold-boldItalic.fntdata"/><Relationship Id="rId47" Type="http://schemas.openxmlformats.org/officeDocument/2006/relationships/font" Target="fonts/NewsreaderSemiBol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ewsreader-italic.fntdata"/><Relationship Id="rId30" Type="http://schemas.openxmlformats.org/officeDocument/2006/relationships/font" Target="fonts/Newsreader-bold.fntdata"/><Relationship Id="rId33" Type="http://schemas.openxmlformats.org/officeDocument/2006/relationships/font" Target="fonts/DMSansLight-regular.fntdata"/><Relationship Id="rId32" Type="http://schemas.openxmlformats.org/officeDocument/2006/relationships/font" Target="fonts/Newsreader-boldItalic.fntdata"/><Relationship Id="rId35" Type="http://schemas.openxmlformats.org/officeDocument/2006/relationships/font" Target="fonts/DMSansLight-italic.fntdata"/><Relationship Id="rId34" Type="http://schemas.openxmlformats.org/officeDocument/2006/relationships/font" Target="fonts/DMSansLight-bold.fntdata"/><Relationship Id="rId37" Type="http://schemas.openxmlformats.org/officeDocument/2006/relationships/font" Target="fonts/DMSansSemiBold-regular.fntdata"/><Relationship Id="rId36" Type="http://schemas.openxmlformats.org/officeDocument/2006/relationships/font" Target="fonts/DMSansLight-boldItalic.fntdata"/><Relationship Id="rId39" Type="http://schemas.openxmlformats.org/officeDocument/2006/relationships/font" Target="fonts/DMSansSemiBold-italic.fntdata"/><Relationship Id="rId38" Type="http://schemas.openxmlformats.org/officeDocument/2006/relationships/font" Target="fonts/DMSansSemiBold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font" Target="fonts/Newsreader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760077ca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760077ca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760077cab3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760077cab3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7ee596b4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f7ee596b4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f8194ee72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f8194ee72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f52c0ac60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f52c0ac60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f52c0ac60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f52c0ac60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f52c0ac60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f52c0ac60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f7ee596b4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f7ee596b4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52c0ac60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f52c0ac60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52c0ac60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f52c0ac60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f52c0ac60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f52c0ac60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52c0ac60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f52c0ac60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52c0ac60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f52c0ac60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f7ee596b4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f7ee596b4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f52c0ac60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f52c0ac60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f7ee596b4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f7ee596b4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7adc4178e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7adc4178e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7ee596b40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f7ee596b40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f7ee596b4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f7ee596b4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f4b383f4f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f4b383f4f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f7ee596b4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f7ee596b4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f7ee596b4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f7ee596b4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68" name="Google Shape;468;p55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5"/>
          <p:cNvSpPr txBox="1"/>
          <p:nvPr>
            <p:ph type="title"/>
          </p:nvPr>
        </p:nvSpPr>
        <p:spPr>
          <a:xfrm>
            <a:off x="363825" y="815650"/>
            <a:ext cx="3860100" cy="16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Fundamentals</a:t>
            </a:r>
            <a:endParaRPr/>
          </a:p>
        </p:txBody>
      </p:sp>
      <p:sp>
        <p:nvSpPr>
          <p:cNvPr id="470" name="Google Shape;470;p55"/>
          <p:cNvSpPr txBox="1"/>
          <p:nvPr>
            <p:ph idx="1" type="subTitle"/>
          </p:nvPr>
        </p:nvSpPr>
        <p:spPr>
          <a:xfrm>
            <a:off x="1914725" y="4551358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©  Sujeet Banerjee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55"/>
          <p:cNvSpPr txBox="1"/>
          <p:nvPr>
            <p:ph idx="3" type="body"/>
          </p:nvPr>
        </p:nvSpPr>
        <p:spPr>
          <a:xfrm>
            <a:off x="547575" y="3661274"/>
            <a:ext cx="34926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/>
              <a:t>28-day </a:t>
            </a:r>
            <a:endParaRPr i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/>
              <a:t>BOOTCAMP</a:t>
            </a:r>
            <a:endParaRPr i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/>
              <a:t>2026</a:t>
            </a:r>
            <a:endParaRPr i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6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AGENDA</a:t>
            </a:r>
            <a:endParaRPr sz="2700"/>
          </a:p>
        </p:txBody>
      </p:sp>
      <p:sp>
        <p:nvSpPr>
          <p:cNvPr id="477" name="Google Shape;477;p56"/>
          <p:cNvSpPr txBox="1"/>
          <p:nvPr>
            <p:ph idx="3" type="body"/>
          </p:nvPr>
        </p:nvSpPr>
        <p:spPr>
          <a:xfrm>
            <a:off x="547575" y="1583950"/>
            <a:ext cx="4024500" cy="25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100"/>
              <a:t>What’s beneath an LLM?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i="1" lang="en" sz="2100"/>
              <a:t>Tokens, Parameters, …</a:t>
            </a:r>
            <a:r>
              <a:rPr i="1" lang="en" sz="2100"/>
              <a:t>?</a:t>
            </a:r>
            <a:endParaRPr i="1"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i="1" lang="en" sz="2100"/>
              <a:t>What’re their impact</a:t>
            </a:r>
            <a:endParaRPr i="1"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i="1" lang="en" sz="2100"/>
              <a:t>Exercises, Self-Study</a:t>
            </a:r>
            <a:endParaRPr i="1" sz="2100"/>
          </a:p>
        </p:txBody>
      </p:sp>
      <p:pic>
        <p:nvPicPr>
          <p:cNvPr descr="A close-up of a modern glass structure. " id="478" name="Google Shape;478;p56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56"/>
          <p:cNvSpPr txBox="1"/>
          <p:nvPr>
            <p:ph idx="1" type="subTitle"/>
          </p:nvPr>
        </p:nvSpPr>
        <p:spPr>
          <a:xfrm>
            <a:off x="1790725" y="4591258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© </a:t>
            </a:r>
            <a:r>
              <a:rPr lang="en"/>
              <a:t>Sujeet Banerjee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7"/>
          <p:cNvSpPr txBox="1"/>
          <p:nvPr>
            <p:ph type="title"/>
          </p:nvPr>
        </p:nvSpPr>
        <p:spPr>
          <a:xfrm>
            <a:off x="361975" y="502987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Guess the next…</a:t>
            </a:r>
            <a:endParaRPr sz="2700"/>
          </a:p>
        </p:txBody>
      </p:sp>
      <p:sp>
        <p:nvSpPr>
          <p:cNvPr id="485" name="Google Shape;485;p57"/>
          <p:cNvSpPr txBox="1"/>
          <p:nvPr/>
        </p:nvSpPr>
        <p:spPr>
          <a:xfrm>
            <a:off x="718150" y="1404025"/>
            <a:ext cx="3412800" cy="21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1, 3, 5, 7, _?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1, 4, 9, 16, _?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2, 7, 14, 23, _?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8"/>
          <p:cNvSpPr txBox="1"/>
          <p:nvPr>
            <p:ph type="title"/>
          </p:nvPr>
        </p:nvSpPr>
        <p:spPr>
          <a:xfrm>
            <a:off x="361975" y="502987"/>
            <a:ext cx="51600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Guess the next, continued…</a:t>
            </a:r>
            <a:endParaRPr sz="2700"/>
          </a:p>
        </p:txBody>
      </p:sp>
      <p:sp>
        <p:nvSpPr>
          <p:cNvPr id="491" name="Google Shape;491;p58"/>
          <p:cNvSpPr txBox="1"/>
          <p:nvPr/>
        </p:nvSpPr>
        <p:spPr>
          <a:xfrm>
            <a:off x="718150" y="1404025"/>
            <a:ext cx="34128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</a:t>
            </a:r>
            <a:r>
              <a:rPr lang="en" sz="1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 am doing 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2" name="Google Shape;492;p58"/>
          <p:cNvSpPr txBox="1"/>
          <p:nvPr/>
        </p:nvSpPr>
        <p:spPr>
          <a:xfrm>
            <a:off x="5221300" y="1207950"/>
            <a:ext cx="3412800" cy="3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great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well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my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fine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ok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it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nothing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9"/>
          <p:cNvSpPr txBox="1"/>
          <p:nvPr>
            <p:ph type="title"/>
          </p:nvPr>
        </p:nvSpPr>
        <p:spPr>
          <a:xfrm>
            <a:off x="361975" y="502987"/>
            <a:ext cx="51600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Demo…</a:t>
            </a:r>
            <a:endParaRPr sz="2700"/>
          </a:p>
        </p:txBody>
      </p:sp>
      <p:sp>
        <p:nvSpPr>
          <p:cNvPr id="498" name="Google Shape;498;p59"/>
          <p:cNvSpPr txBox="1"/>
          <p:nvPr/>
        </p:nvSpPr>
        <p:spPr>
          <a:xfrm>
            <a:off x="718150" y="1404025"/>
            <a:ext cx="51600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i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Ollama - Autoregressive Token Response…</a:t>
            </a:r>
            <a:endParaRPr i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predicts one token at a time. </a:t>
            </a:r>
            <a:endParaRPr i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0"/>
          <p:cNvSpPr txBox="1"/>
          <p:nvPr>
            <p:ph type="title"/>
          </p:nvPr>
        </p:nvSpPr>
        <p:spPr>
          <a:xfrm>
            <a:off x="361975" y="502987"/>
            <a:ext cx="51600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Guess the next, continued…</a:t>
            </a:r>
            <a:endParaRPr sz="2700"/>
          </a:p>
        </p:txBody>
      </p:sp>
      <p:sp>
        <p:nvSpPr>
          <p:cNvPr id="504" name="Google Shape;504;p60"/>
          <p:cNvSpPr txBox="1"/>
          <p:nvPr/>
        </p:nvSpPr>
        <p:spPr>
          <a:xfrm>
            <a:off x="5096399" y="598077"/>
            <a:ext cx="34128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 am doing 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05" name="Google Shape;50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975" y="1090687"/>
            <a:ext cx="6018664" cy="3748012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60"/>
          <p:cNvSpPr txBox="1"/>
          <p:nvPr/>
        </p:nvSpPr>
        <p:spPr>
          <a:xfrm>
            <a:off x="6530650" y="1895400"/>
            <a:ext cx="2117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Temperature = 0.1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1"/>
          <p:cNvSpPr txBox="1"/>
          <p:nvPr>
            <p:ph type="title"/>
          </p:nvPr>
        </p:nvSpPr>
        <p:spPr>
          <a:xfrm>
            <a:off x="361975" y="502987"/>
            <a:ext cx="51600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Guess the next, continued…</a:t>
            </a:r>
            <a:endParaRPr sz="2700"/>
          </a:p>
        </p:txBody>
      </p:sp>
      <p:sp>
        <p:nvSpPr>
          <p:cNvPr id="512" name="Google Shape;512;p61"/>
          <p:cNvSpPr txBox="1"/>
          <p:nvPr/>
        </p:nvSpPr>
        <p:spPr>
          <a:xfrm>
            <a:off x="5096399" y="598077"/>
            <a:ext cx="34128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 am doing 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3" name="Google Shape;513;p61"/>
          <p:cNvSpPr txBox="1"/>
          <p:nvPr/>
        </p:nvSpPr>
        <p:spPr>
          <a:xfrm>
            <a:off x="6530650" y="1895400"/>
            <a:ext cx="2117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Temperature = 0.8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14" name="Google Shape;51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891" y="1047017"/>
            <a:ext cx="5939505" cy="3748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2"/>
          <p:cNvSpPr txBox="1"/>
          <p:nvPr>
            <p:ph type="title"/>
          </p:nvPr>
        </p:nvSpPr>
        <p:spPr>
          <a:xfrm>
            <a:off x="286525" y="300449"/>
            <a:ext cx="1369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LLM</a:t>
            </a:r>
            <a:endParaRPr i="1" sz="1900"/>
          </a:p>
        </p:txBody>
      </p:sp>
      <p:sp>
        <p:nvSpPr>
          <p:cNvPr id="520" name="Google Shape;520;p62"/>
          <p:cNvSpPr txBox="1"/>
          <p:nvPr>
            <p:ph idx="1" type="subTitle"/>
          </p:nvPr>
        </p:nvSpPr>
        <p:spPr>
          <a:xfrm>
            <a:off x="331477" y="1066091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/>
              <a:t>HIGH LEVEL </a:t>
            </a:r>
            <a:endParaRPr i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/>
              <a:t>ARCH.</a:t>
            </a:r>
            <a:endParaRPr i="1" sz="1500"/>
          </a:p>
        </p:txBody>
      </p:sp>
      <p:pic>
        <p:nvPicPr>
          <p:cNvPr id="521" name="Google Shape;52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2969" y="117080"/>
            <a:ext cx="7297079" cy="4864676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62"/>
          <p:cNvSpPr txBox="1"/>
          <p:nvPr/>
        </p:nvSpPr>
        <p:spPr>
          <a:xfrm>
            <a:off x="286525" y="1984050"/>
            <a:ext cx="12534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One token </a:t>
            </a:r>
            <a:endParaRPr i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 a time…</a:t>
            </a:r>
            <a:endParaRPr i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3"/>
          <p:cNvSpPr txBox="1"/>
          <p:nvPr>
            <p:ph type="title"/>
          </p:nvPr>
        </p:nvSpPr>
        <p:spPr>
          <a:xfrm>
            <a:off x="361975" y="502987"/>
            <a:ext cx="51600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What are </a:t>
            </a:r>
            <a:r>
              <a:rPr i="1" lang="en" sz="2700"/>
              <a:t>TOKENS…?</a:t>
            </a:r>
            <a:endParaRPr i="1" sz="2700"/>
          </a:p>
        </p:txBody>
      </p:sp>
      <p:sp>
        <p:nvSpPr>
          <p:cNvPr id="528" name="Google Shape;528;p63"/>
          <p:cNvSpPr txBox="1"/>
          <p:nvPr/>
        </p:nvSpPr>
        <p:spPr>
          <a:xfrm>
            <a:off x="270700" y="1190125"/>
            <a:ext cx="2588400" cy="15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Why do we care?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Pricing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Speed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Context Window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9" name="Google Shape;529;p63"/>
          <p:cNvSpPr txBox="1"/>
          <p:nvPr/>
        </p:nvSpPr>
        <p:spPr>
          <a:xfrm>
            <a:off x="3286775" y="1101000"/>
            <a:ext cx="4028400" cy="3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“Artificial Intelligence 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is amazing”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“Unbelievable”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“Playification”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“Supercalifragilisticexpialidocious“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</a:t>
            </a: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こんにちは </a:t>
            </a: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”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0" name="Google Shape;530;p63"/>
          <p:cNvSpPr txBox="1"/>
          <p:nvPr/>
        </p:nvSpPr>
        <p:spPr>
          <a:xfrm>
            <a:off x="6566500" y="1090675"/>
            <a:ext cx="2467500" cy="3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[‘</a:t>
            </a: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Artificial’, ‘intelligence’, ‘is’, ‘amazing’]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[‘Un’,   ‘believ’,  ‘able’]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31" name="Google Shape;531;p63"/>
          <p:cNvCxnSpPr/>
          <p:nvPr/>
        </p:nvCxnSpPr>
        <p:spPr>
          <a:xfrm>
            <a:off x="3055050" y="1262025"/>
            <a:ext cx="35700" cy="335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2" name="Google Shape;532;p63"/>
          <p:cNvSpPr txBox="1"/>
          <p:nvPr/>
        </p:nvSpPr>
        <p:spPr>
          <a:xfrm>
            <a:off x="361975" y="3243900"/>
            <a:ext cx="2588400" cy="15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Ch-tok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Word-tok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Subword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Byte-Pair-Enc.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…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4"/>
          <p:cNvSpPr txBox="1"/>
          <p:nvPr>
            <p:ph type="title"/>
          </p:nvPr>
        </p:nvSpPr>
        <p:spPr>
          <a:xfrm>
            <a:off x="361975" y="502987"/>
            <a:ext cx="51600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/>
              <a:t>Tokenization</a:t>
            </a:r>
            <a:endParaRPr i="1" sz="2700"/>
          </a:p>
        </p:txBody>
      </p:sp>
      <p:cxnSp>
        <p:nvCxnSpPr>
          <p:cNvPr id="538" name="Google Shape;538;p64"/>
          <p:cNvCxnSpPr/>
          <p:nvPr/>
        </p:nvCxnSpPr>
        <p:spPr>
          <a:xfrm>
            <a:off x="5421166" y="1090675"/>
            <a:ext cx="4500" cy="343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39" name="Google Shape;539;p64"/>
          <p:cNvGraphicFramePr/>
          <p:nvPr/>
        </p:nvGraphicFramePr>
        <p:xfrm>
          <a:off x="2543682" y="6396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{256D571A-89AF-411B-B43B-E98B456F6939}</a:tableStyleId>
              </a:tblPr>
              <a:tblGrid>
                <a:gridCol w="3013250"/>
                <a:gridCol w="3376625"/>
              </a:tblGrid>
              <a:tr h="353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Model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Tokenizer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6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GPT-2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Byte Pair Encoding (BPE)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6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GPT-3 / GPT-4 / GPT-5 family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Byte-level BPE (OpenAI variants)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7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Llama 2 / 3 / 3.2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SentencePiece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7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Gemma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SentencePiece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7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Mistral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SentencePiece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7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Qwen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Byte-level BPE variant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7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DeepSeek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BPE-based tokenize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5"/>
          <p:cNvSpPr txBox="1"/>
          <p:nvPr>
            <p:ph type="title"/>
          </p:nvPr>
        </p:nvSpPr>
        <p:spPr>
          <a:xfrm>
            <a:off x="361975" y="502987"/>
            <a:ext cx="51600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Context…</a:t>
            </a:r>
            <a:endParaRPr i="1" sz="2700"/>
          </a:p>
        </p:txBody>
      </p:sp>
      <p:sp>
        <p:nvSpPr>
          <p:cNvPr id="545" name="Google Shape;545;p65"/>
          <p:cNvSpPr txBox="1"/>
          <p:nvPr/>
        </p:nvSpPr>
        <p:spPr>
          <a:xfrm>
            <a:off x="270700" y="1190125"/>
            <a:ext cx="4887600" cy="3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number of tokens that for the current input to the LLM - </a:t>
            </a:r>
            <a:r>
              <a:rPr i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context</a:t>
            </a:r>
            <a:br>
              <a:rPr i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br>
              <a:rPr i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i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total capacity (in token terms) of input - </a:t>
            </a:r>
            <a:r>
              <a:rPr i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context window</a:t>
            </a:r>
            <a:br>
              <a:rPr i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br>
              <a:rPr i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i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model's fundamental unit of computation - </a:t>
            </a:r>
            <a:r>
              <a:rPr i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tokens</a:t>
            </a:r>
            <a:endParaRPr i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46" name="Google Shape;546;p65"/>
          <p:cNvCxnSpPr/>
          <p:nvPr/>
        </p:nvCxnSpPr>
        <p:spPr>
          <a:xfrm>
            <a:off x="8152875" y="1262025"/>
            <a:ext cx="0" cy="354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6"/>
          <p:cNvSpPr txBox="1"/>
          <p:nvPr>
            <p:ph type="title"/>
          </p:nvPr>
        </p:nvSpPr>
        <p:spPr>
          <a:xfrm>
            <a:off x="361975" y="502987"/>
            <a:ext cx="51600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Summary</a:t>
            </a:r>
            <a:endParaRPr i="1" sz="2700"/>
          </a:p>
        </p:txBody>
      </p:sp>
      <p:sp>
        <p:nvSpPr>
          <p:cNvPr id="552" name="Google Shape;552;p66"/>
          <p:cNvSpPr txBox="1"/>
          <p:nvPr/>
        </p:nvSpPr>
        <p:spPr>
          <a:xfrm>
            <a:off x="270700" y="1190125"/>
            <a:ext cx="74187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AI has evolved dramatically over the past few decades.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LLMs generate text by predicting the next token.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Tokens are the basic units of processing.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Context Window determines how much the model can consider at once.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Temperature affects randomness and creativity.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LLMs are </a:t>
            </a:r>
            <a:r>
              <a:rPr i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reusable…</a:t>
            </a:r>
            <a:endParaRPr i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53" name="Google Shape;553;p66"/>
          <p:cNvCxnSpPr/>
          <p:nvPr/>
        </p:nvCxnSpPr>
        <p:spPr>
          <a:xfrm>
            <a:off x="8152875" y="1262025"/>
            <a:ext cx="0" cy="354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7"/>
          <p:cNvSpPr txBox="1"/>
          <p:nvPr>
            <p:ph type="title"/>
          </p:nvPr>
        </p:nvSpPr>
        <p:spPr>
          <a:xfrm>
            <a:off x="361975" y="502987"/>
            <a:ext cx="51600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Assignment, Self-study</a:t>
            </a:r>
            <a:endParaRPr i="1" sz="2700"/>
          </a:p>
        </p:txBody>
      </p:sp>
      <p:sp>
        <p:nvSpPr>
          <p:cNvPr id="559" name="Google Shape;559;p67"/>
          <p:cNvSpPr txBox="1"/>
          <p:nvPr/>
        </p:nvSpPr>
        <p:spPr>
          <a:xfrm>
            <a:off x="270700" y="1047529"/>
            <a:ext cx="74187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Install Ollama on laptop, and record the effect of </a:t>
            </a:r>
            <a:r>
              <a:rPr i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temperature</a:t>
            </a: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Instructions to be shared.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Explore the ‘tokenization’ techniques: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WordPiece, SentencePiece, BytePairEncoding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Explore how can you configure the Context Window 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 the locally installed Ollama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 your Chat-GPT account.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Explore: Pros and Cons of locally deployed LLM compared to public sites.</a:t>
            </a:r>
            <a:endParaRPr i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60" name="Google Shape;560;p67"/>
          <p:cNvCxnSpPr/>
          <p:nvPr/>
        </p:nvCxnSpPr>
        <p:spPr>
          <a:xfrm>
            <a:off x="8152875" y="1262025"/>
            <a:ext cx="0" cy="354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/>
          <p:nvPr>
            <p:ph type="title"/>
          </p:nvPr>
        </p:nvSpPr>
        <p:spPr>
          <a:xfrm>
            <a:off x="2595000" y="1066100"/>
            <a:ext cx="3860100" cy="25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Thank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you…</a:t>
            </a:r>
            <a:endParaRPr i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9"/>
          <p:cNvSpPr txBox="1"/>
          <p:nvPr>
            <p:ph type="title"/>
          </p:nvPr>
        </p:nvSpPr>
        <p:spPr>
          <a:xfrm>
            <a:off x="2595000" y="1066100"/>
            <a:ext cx="3860100" cy="25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BACKUP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825306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dash"/>
            <a:round/>
            <a:headEnd len="sm" w="sm" type="none"/>
            <a:tailEnd len="sm" w="sm" type="none"/>
          </a:ln>
        </p:spPr>
      </p:pic>
      <p:cxnSp>
        <p:nvCxnSpPr>
          <p:cNvPr id="576" name="Google Shape;576;p70"/>
          <p:cNvCxnSpPr/>
          <p:nvPr/>
        </p:nvCxnSpPr>
        <p:spPr>
          <a:xfrm>
            <a:off x="933925" y="2070650"/>
            <a:ext cx="35700" cy="27093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70"/>
          <p:cNvCxnSpPr/>
          <p:nvPr/>
        </p:nvCxnSpPr>
        <p:spPr>
          <a:xfrm>
            <a:off x="4017575" y="3838675"/>
            <a:ext cx="9900" cy="10239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70"/>
          <p:cNvCxnSpPr/>
          <p:nvPr/>
        </p:nvCxnSpPr>
        <p:spPr>
          <a:xfrm>
            <a:off x="7734900" y="3838675"/>
            <a:ext cx="9900" cy="10239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70"/>
          <p:cNvCxnSpPr/>
          <p:nvPr/>
        </p:nvCxnSpPr>
        <p:spPr>
          <a:xfrm>
            <a:off x="1219125" y="4755747"/>
            <a:ext cx="2673600" cy="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80" name="Google Shape;580;p70"/>
          <p:cNvCxnSpPr/>
          <p:nvPr/>
        </p:nvCxnSpPr>
        <p:spPr>
          <a:xfrm>
            <a:off x="4160175" y="4773575"/>
            <a:ext cx="3467700" cy="63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5" name="Google Shape;585;p71"/>
          <p:cNvGraphicFramePr/>
          <p:nvPr/>
        </p:nvGraphicFramePr>
        <p:xfrm>
          <a:off x="636942" y="8141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{49FB7442-EA88-444C-80B2-56679242800F}</a:tableStyleId>
              </a:tblPr>
              <a:tblGrid>
                <a:gridCol w="2374400"/>
                <a:gridCol w="5455125"/>
              </a:tblGrid>
              <a:tr h="104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WEEK-1, 2</a:t>
                      </a:r>
                      <a:endParaRPr b="1" sz="13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Fundamentals and Evaluation</a:t>
                      </a:r>
                      <a:endParaRPr b="1" sz="13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LLM fundamentals (evol. From NN / DL)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Prompting architectures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Agentic Foundation (Agentic Arch. patterns)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Metrics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: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BLEU/ROUGE, Ctx-precision, Recall, Relevance, …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Intro to RAGAS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4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WEEK-2, 3</a:t>
                      </a:r>
                      <a:endParaRPr b="1" sz="13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Agentic AI with N8N</a:t>
                      </a:r>
                      <a:endParaRPr b="1" sz="13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Nodes, Workflows, Triggers,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API Calling, Webhooks,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LLM Integration, Statelessness, Model abstraction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Tool calling, memory (statefulness), Conv. history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Agent Routing, Multi-agent arch.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2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WEEK-4, 5</a:t>
                      </a:r>
                      <a:endParaRPr b="1" sz="13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RAG Architecture (N8N)</a:t>
                      </a:r>
                      <a:endParaRPr b="1" sz="13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RAG, EMbedding Fundamentals,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Similarity Search, Vector-DB (Qdrant)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Data-Ingestion,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Enrichment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, Retrieval Strategies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WEEK- 6</a:t>
                      </a:r>
                      <a:endParaRPr b="1" sz="13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LangFuse, LLMOps</a:t>
                      </a:r>
                      <a:endParaRPr b="1" sz="13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Telemetry using LiteLLM Proxy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Online and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Offline Evals (RAGAS)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LangFuse Dashboarding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86" name="Google Shape;586;p71"/>
          <p:cNvSpPr txBox="1"/>
          <p:nvPr/>
        </p:nvSpPr>
        <p:spPr>
          <a:xfrm>
            <a:off x="491125" y="239904"/>
            <a:ext cx="53088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WEEK-WISE  SCHEDULE</a:t>
            </a:r>
            <a:endParaRPr sz="27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72"/>
          <p:cNvSpPr txBox="1"/>
          <p:nvPr/>
        </p:nvSpPr>
        <p:spPr>
          <a:xfrm>
            <a:off x="491125" y="369300"/>
            <a:ext cx="1245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INFRA</a:t>
            </a:r>
            <a:endParaRPr sz="27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graphicFrame>
        <p:nvGraphicFramePr>
          <p:cNvPr id="592" name="Google Shape;592;p72"/>
          <p:cNvGraphicFramePr/>
          <p:nvPr/>
        </p:nvGraphicFramePr>
        <p:xfrm>
          <a:off x="1879400" y="5742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{49FB7442-EA88-444C-80B2-56679242800F}</a:tableStyleId>
              </a:tblPr>
              <a:tblGrid>
                <a:gridCol w="3513675"/>
              </a:tblGrid>
              <a:tr h="393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OPTION 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2202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Local docker-container based setup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Requires Laptop(win) / MacBook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16GB RAM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500GB HDD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Installation instructions will be shared for self-hosting.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 guidance provided for setup/installation in the bootcamp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93" name="Google Shape;593;p72"/>
          <p:cNvGraphicFramePr/>
          <p:nvPr/>
        </p:nvGraphicFramePr>
        <p:xfrm>
          <a:off x="5393075" y="5742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{49FB7442-EA88-444C-80B2-56679242800F}</a:tableStyleId>
              </a:tblPr>
              <a:tblGrid>
                <a:gridCol w="3383600"/>
              </a:tblGrid>
              <a:tr h="26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OPTION 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1755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Hosted on service provide cloud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Use limited-period trial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licenses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(free period):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N8N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LangFuse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Requires usual laptop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 guidance provided for setup/installation in the bootcamp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94" name="Google Shape;594;p72"/>
          <p:cNvSpPr txBox="1"/>
          <p:nvPr/>
        </p:nvSpPr>
        <p:spPr>
          <a:xfrm>
            <a:off x="408900" y="3476882"/>
            <a:ext cx="21693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AI Licenses</a:t>
            </a:r>
            <a:endParaRPr sz="27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graphicFrame>
        <p:nvGraphicFramePr>
          <p:cNvPr id="595" name="Google Shape;595;p72"/>
          <p:cNvGraphicFramePr/>
          <p:nvPr/>
        </p:nvGraphicFramePr>
        <p:xfrm>
          <a:off x="2423700" y="36773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{49FB7442-EA88-444C-80B2-56679242800F}</a:tableStyleId>
              </a:tblPr>
              <a:tblGrid>
                <a:gridCol w="6150100"/>
              </a:tblGrid>
              <a:tr h="5105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OpenAI - $5 token prepaid (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optional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Groq / Llama3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Huggingface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QDrant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3"/>
          <p:cNvSpPr txBox="1"/>
          <p:nvPr>
            <p:ph type="title"/>
          </p:nvPr>
        </p:nvSpPr>
        <p:spPr>
          <a:xfrm>
            <a:off x="363825" y="535050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LEARNING OUTCOMES</a:t>
            </a:r>
            <a:endParaRPr sz="2700"/>
          </a:p>
        </p:txBody>
      </p:sp>
      <p:sp>
        <p:nvSpPr>
          <p:cNvPr id="601" name="Google Shape;601;p73"/>
          <p:cNvSpPr txBox="1"/>
          <p:nvPr>
            <p:ph idx="3" type="body"/>
          </p:nvPr>
        </p:nvSpPr>
        <p:spPr>
          <a:xfrm>
            <a:off x="317550" y="1583950"/>
            <a:ext cx="4024500" cy="25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500"/>
              </a:spcBef>
              <a:spcAft>
                <a:spcPts val="0"/>
              </a:spcAft>
              <a:buSzPts val="2100"/>
              <a:buChar char="-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Understand modern AI architecture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Build Agentic workflows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Evaluate AI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Implement RAG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Understand LLMOps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602" name="Google Shape;602;p73"/>
          <p:cNvSpPr txBox="1"/>
          <p:nvPr>
            <p:ph idx="1" type="subTitle"/>
          </p:nvPr>
        </p:nvSpPr>
        <p:spPr>
          <a:xfrm>
            <a:off x="1790725" y="4591258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Sujeet Banerjee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3" name="Google Shape;60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950" y="77725"/>
            <a:ext cx="4444174" cy="500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4"/>
          <p:cNvSpPr txBox="1"/>
          <p:nvPr>
            <p:ph type="title"/>
          </p:nvPr>
        </p:nvSpPr>
        <p:spPr>
          <a:xfrm>
            <a:off x="361975" y="478400"/>
            <a:ext cx="2701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NOT </a:t>
            </a:r>
            <a:r>
              <a:rPr lang="en" sz="2700"/>
              <a:t>OFFERED</a:t>
            </a:r>
            <a:r>
              <a:rPr lang="en" sz="2700"/>
              <a:t> </a:t>
            </a:r>
            <a:endParaRPr sz="2700"/>
          </a:p>
        </p:txBody>
      </p:sp>
      <p:sp>
        <p:nvSpPr>
          <p:cNvPr id="609" name="Google Shape;609;p74"/>
          <p:cNvSpPr txBox="1"/>
          <p:nvPr/>
        </p:nvSpPr>
        <p:spPr>
          <a:xfrm rot="-822111">
            <a:off x="1612898" y="1317647"/>
            <a:ext cx="1433701" cy="323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UI Development,</a:t>
            </a:r>
            <a:b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Streamlit,</a:t>
            </a:r>
            <a:b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Javascript 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0" name="Google Shape;610;p74"/>
          <p:cNvSpPr txBox="1"/>
          <p:nvPr/>
        </p:nvSpPr>
        <p:spPr>
          <a:xfrm rot="-1439">
            <a:off x="3270834" y="1801434"/>
            <a:ext cx="1433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Build 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Chatbots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1" name="Google Shape;611;p74"/>
          <p:cNvSpPr txBox="1"/>
          <p:nvPr/>
        </p:nvSpPr>
        <p:spPr>
          <a:xfrm rot="242626">
            <a:off x="995747" y="2366260"/>
            <a:ext cx="1433669" cy="32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Java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Python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(coding)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2" name="Google Shape;612;p74"/>
          <p:cNvSpPr txBox="1"/>
          <p:nvPr/>
        </p:nvSpPr>
        <p:spPr>
          <a:xfrm rot="242626">
            <a:off x="4021572" y="774060"/>
            <a:ext cx="1433669" cy="32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Web Service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Development,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Hosting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3" name="Google Shape;613;p74"/>
          <p:cNvSpPr txBox="1"/>
          <p:nvPr/>
        </p:nvSpPr>
        <p:spPr>
          <a:xfrm rot="669568">
            <a:off x="1092700" y="3473466"/>
            <a:ext cx="1433810" cy="323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App Development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4" name="Google Shape;614;p74"/>
          <p:cNvSpPr txBox="1"/>
          <p:nvPr/>
        </p:nvSpPr>
        <p:spPr>
          <a:xfrm rot="-569395">
            <a:off x="3354009" y="2856032"/>
            <a:ext cx="1433822" cy="323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 Science,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 Engineering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5" name="Google Shape;615;p74"/>
          <p:cNvSpPr txBox="1"/>
          <p:nvPr/>
        </p:nvSpPr>
        <p:spPr>
          <a:xfrm rot="-4316">
            <a:off x="3154650" y="4224806"/>
            <a:ext cx="1433701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Cloud technologies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6" name="Google Shape;616;p74"/>
          <p:cNvSpPr txBox="1"/>
          <p:nvPr/>
        </p:nvSpPr>
        <p:spPr>
          <a:xfrm rot="469085">
            <a:off x="6085995" y="1093295"/>
            <a:ext cx="1433525" cy="3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 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Visualization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Tools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7" name="Google Shape;617;p74"/>
          <p:cNvSpPr txBox="1"/>
          <p:nvPr/>
        </p:nvSpPr>
        <p:spPr>
          <a:xfrm rot="259805">
            <a:off x="6375880" y="2367566"/>
            <a:ext cx="1863519" cy="3234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(In-depth)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Machine Learning,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Deep Learning,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Neural Networks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8" name="Google Shape;618;p74"/>
          <p:cNvSpPr txBox="1"/>
          <p:nvPr/>
        </p:nvSpPr>
        <p:spPr>
          <a:xfrm rot="-500216">
            <a:off x="6085877" y="4034973"/>
            <a:ext cx="1433852" cy="323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Mathematics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 AI/ML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3" name="Google Shape;62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705"/>
            <a:ext cx="9071450" cy="4952094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75"/>
          <p:cNvSpPr txBox="1"/>
          <p:nvPr>
            <p:ph type="title"/>
          </p:nvPr>
        </p:nvSpPr>
        <p:spPr>
          <a:xfrm>
            <a:off x="399750" y="268125"/>
            <a:ext cx="5364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GENERATIVE AI LANDSCAPE</a:t>
            </a:r>
            <a:endParaRPr i="1" sz="1900"/>
          </a:p>
        </p:txBody>
      </p:sp>
      <p:sp>
        <p:nvSpPr>
          <p:cNvPr id="625" name="Google Shape;625;p75"/>
          <p:cNvSpPr txBox="1"/>
          <p:nvPr>
            <p:ph idx="1" type="subTitle"/>
          </p:nvPr>
        </p:nvSpPr>
        <p:spPr>
          <a:xfrm>
            <a:off x="461301" y="688708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/>
              <a:t>PAST TWO YEARS…</a:t>
            </a:r>
            <a:endParaRPr i="1" sz="1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Google Shape;63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825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