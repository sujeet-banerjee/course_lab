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Newsreader"/>
      <p:regular r:id="rId33"/>
      <p:bold r:id="rId34"/>
      <p:italic r:id="rId35"/>
      <p:boldItalic r:id="rId36"/>
    </p:embeddedFont>
    <p:embeddedFont>
      <p:font typeface="DM Sans Light"/>
      <p:regular r:id="rId37"/>
      <p:bold r:id="rId38"/>
      <p:italic r:id="rId39"/>
      <p:boldItalic r:id="rId40"/>
    </p:embeddedFont>
    <p:embeddedFont>
      <p:font typeface="DM Sans SemiBold"/>
      <p:regular r:id="rId41"/>
      <p:bold r:id="rId42"/>
      <p:italic r:id="rId43"/>
      <p:boldItalic r:id="rId44"/>
    </p:embeddedFont>
    <p:embeddedFont>
      <p:font typeface="DM Sans"/>
      <p:regular r:id="rId45"/>
      <p:bold r:id="rId46"/>
      <p:italic r:id="rId47"/>
      <p:boldItalic r:id="rId48"/>
    </p:embeddedFont>
    <p:embeddedFont>
      <p:font typeface="Newsreader SemiBold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F4A080-789B-4744-A9E6-1285E12EEAE4}">
  <a:tblStyle styleId="{36F4A080-789B-4744-A9E6-1285E12EEA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CEE7728-9F4F-4B89-9854-466EE841ED7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Light-boldItalic.fntdata"/><Relationship Id="rId42" Type="http://schemas.openxmlformats.org/officeDocument/2006/relationships/font" Target="fonts/DMSansSemiBold-bold.fntdata"/><Relationship Id="rId41" Type="http://schemas.openxmlformats.org/officeDocument/2006/relationships/font" Target="fonts/DMSansSemiBold-regular.fntdata"/><Relationship Id="rId44" Type="http://schemas.openxmlformats.org/officeDocument/2006/relationships/font" Target="fonts/DMSansSemiBold-boldItalic.fntdata"/><Relationship Id="rId43" Type="http://schemas.openxmlformats.org/officeDocument/2006/relationships/font" Target="fonts/DMSansSemiBold-italic.fntdata"/><Relationship Id="rId46" Type="http://schemas.openxmlformats.org/officeDocument/2006/relationships/font" Target="fonts/DMSans-bold.fntdata"/><Relationship Id="rId45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boldItalic.fntdata"/><Relationship Id="rId47" Type="http://schemas.openxmlformats.org/officeDocument/2006/relationships/font" Target="fonts/DMSans-italic.fntdata"/><Relationship Id="rId49" Type="http://schemas.openxmlformats.org/officeDocument/2006/relationships/font" Target="fonts/Newsread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33" Type="http://schemas.openxmlformats.org/officeDocument/2006/relationships/font" Target="fonts/Newsreader-regular.fntdata"/><Relationship Id="rId32" Type="http://schemas.openxmlformats.org/officeDocument/2006/relationships/font" Target="fonts/Roboto-boldItalic.fntdata"/><Relationship Id="rId35" Type="http://schemas.openxmlformats.org/officeDocument/2006/relationships/font" Target="fonts/Newsreader-italic.fntdata"/><Relationship Id="rId34" Type="http://schemas.openxmlformats.org/officeDocument/2006/relationships/font" Target="fonts/Newsreader-bold.fntdata"/><Relationship Id="rId37" Type="http://schemas.openxmlformats.org/officeDocument/2006/relationships/font" Target="fonts/DMSansLight-regular.fntdata"/><Relationship Id="rId36" Type="http://schemas.openxmlformats.org/officeDocument/2006/relationships/font" Target="fonts/Newsreader-boldItalic.fntdata"/><Relationship Id="rId39" Type="http://schemas.openxmlformats.org/officeDocument/2006/relationships/font" Target="fonts/DMSansLight-italic.fntdata"/><Relationship Id="rId38" Type="http://schemas.openxmlformats.org/officeDocument/2006/relationships/font" Target="fonts/DMSansLight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Roboto-regular.fntdata"/><Relationship Id="rId51" Type="http://schemas.openxmlformats.org/officeDocument/2006/relationships/font" Target="fonts/NewsreaderSemiBold-italic.fntdata"/><Relationship Id="rId50" Type="http://schemas.openxmlformats.org/officeDocument/2006/relationships/font" Target="fonts/NewsreaderSemiBold-bold.fntdata"/><Relationship Id="rId52" Type="http://schemas.openxmlformats.org/officeDocument/2006/relationships/font" Target="fonts/Newsreader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60077ca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60077ca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760077cab3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760077cab3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f7ee596b4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f7ee596b4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f5399b2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f5399b2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6fcadd2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6fcadd2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54aba0d5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54aba0d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52c0ac60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52c0ac60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52c0ac60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f52c0ac60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52c0ac60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f52c0ac60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f7ee596b40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f7ee596b4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52c0ac609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f52c0ac609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52c0ac60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f52c0ac60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f52c0ac60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f52c0ac60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f7ee596b4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f7ee596b4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52c0ac60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52c0ac60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52c0ac609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3f52c0ac609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52c0ac60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f52c0ac60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f7ee596b4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f7ee596b4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7adc4178e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7adc4178e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f7ee596b40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f7ee596b40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3f7ee596b40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3f7ee596b4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7ee596b4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f7ee596b4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5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3825" y="369300"/>
            <a:ext cx="3860100" cy="209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LLM-Ops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Foundations</a:t>
            </a:r>
            <a:endParaRPr/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1914725" y="45513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©  Sujeet Banerjee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661274"/>
            <a:ext cx="3492600" cy="70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28-day </a:t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BOOTCAMP</a:t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2026</a:t>
            </a:r>
            <a:endParaRPr i="1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AGENDA</a:t>
            </a:r>
            <a:endParaRPr sz="2700"/>
          </a:p>
        </p:txBody>
      </p:sp>
      <p:sp>
        <p:nvSpPr>
          <p:cNvPr id="477" name="Google Shape;477;p56"/>
          <p:cNvSpPr txBox="1"/>
          <p:nvPr>
            <p:ph idx="3" type="body"/>
          </p:nvPr>
        </p:nvSpPr>
        <p:spPr>
          <a:xfrm>
            <a:off x="547575" y="1583950"/>
            <a:ext cx="3977400" cy="25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Development to Operationalization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100"/>
              <a:t>LLMOps - </a:t>
            </a:r>
            <a:r>
              <a:rPr i="1" lang="en" sz="2100"/>
              <a:t>what</a:t>
            </a:r>
            <a:r>
              <a:rPr lang="en" sz="2100"/>
              <a:t> and </a:t>
            </a:r>
            <a:r>
              <a:rPr i="1" lang="en" sz="2100"/>
              <a:t>why</a:t>
            </a:r>
            <a:endParaRPr i="1" sz="2100"/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i="1" sz="2100"/>
          </a:p>
        </p:txBody>
      </p:sp>
      <p:pic>
        <p:nvPicPr>
          <p:cNvPr descr="A close-up of a modern glass structure. " id="478" name="Google Shape;478;p56"/>
          <p:cNvPicPr preferRelativeResize="0"/>
          <p:nvPr/>
        </p:nvPicPr>
        <p:blipFill rotWithShape="1">
          <a:blip r:embed="rId3">
            <a:alphaModFix/>
          </a:blip>
          <a:srcRect b="80" l="21737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6"/>
          <p:cNvSpPr txBox="1"/>
          <p:nvPr>
            <p:ph idx="1" type="subTitle"/>
          </p:nvPr>
        </p:nvSpPr>
        <p:spPr>
          <a:xfrm>
            <a:off x="1790725" y="45912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Sujeet Banerjee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type="title"/>
          </p:nvPr>
        </p:nvSpPr>
        <p:spPr>
          <a:xfrm>
            <a:off x="361975" y="502987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Recap</a:t>
            </a:r>
            <a:r>
              <a:rPr i="1" lang="en" sz="2700"/>
              <a:t>…</a:t>
            </a:r>
            <a:endParaRPr i="1" sz="2700"/>
          </a:p>
        </p:txBody>
      </p:sp>
      <p:sp>
        <p:nvSpPr>
          <p:cNvPr id="485" name="Google Shape;485;p57"/>
          <p:cNvSpPr txBox="1"/>
          <p:nvPr/>
        </p:nvSpPr>
        <p:spPr>
          <a:xfrm>
            <a:off x="280000" y="1118275"/>
            <a:ext cx="4756800" cy="30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Week-wise progression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Focussed primarily on development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Next - </a:t>
            </a: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separates an AI-experiment from an AI-production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Risks?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Observability?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Metrics?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Risk-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prediction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Risk-mitigation?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Continuous Integration and Delivery?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86" name="Google Shape;486;p57"/>
          <p:cNvCxnSpPr/>
          <p:nvPr/>
        </p:nvCxnSpPr>
        <p:spPr>
          <a:xfrm>
            <a:off x="5039400" y="62827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8"/>
          <p:cNvSpPr txBox="1"/>
          <p:nvPr>
            <p:ph type="title"/>
          </p:nvPr>
        </p:nvSpPr>
        <p:spPr>
          <a:xfrm>
            <a:off x="361975" y="502975"/>
            <a:ext cx="4922400" cy="9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Risks?</a:t>
            </a:r>
            <a:endParaRPr sz="2700"/>
          </a:p>
        </p:txBody>
      </p:sp>
      <p:sp>
        <p:nvSpPr>
          <p:cNvPr id="492" name="Google Shape;492;p58"/>
          <p:cNvSpPr txBox="1"/>
          <p:nvPr/>
        </p:nvSpPr>
        <p:spPr>
          <a:xfrm>
            <a:off x="299050" y="1080175"/>
            <a:ext cx="5175900" cy="3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model starts hallucinating?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prompt change reduces answer quality?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One provider goes down?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API costs suddenly increase?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Retrieval quality deteriorates?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 agent starts calling the wrong tool?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Latency increases?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 new model version performs worse?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need to understand why a particular answer was generated?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93" name="Google Shape;493;p58"/>
          <p:cNvCxnSpPr/>
          <p:nvPr/>
        </p:nvCxnSpPr>
        <p:spPr>
          <a:xfrm>
            <a:off x="5229900" y="62827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9"/>
          <p:cNvSpPr txBox="1"/>
          <p:nvPr>
            <p:ph type="title"/>
          </p:nvPr>
        </p:nvSpPr>
        <p:spPr>
          <a:xfrm>
            <a:off x="361975" y="502975"/>
            <a:ext cx="2027400" cy="4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LLMOps</a:t>
            </a:r>
            <a:endParaRPr sz="2700"/>
          </a:p>
        </p:txBody>
      </p:sp>
      <p:grpSp>
        <p:nvGrpSpPr>
          <p:cNvPr id="499" name="Google Shape;499;p59"/>
          <p:cNvGrpSpPr/>
          <p:nvPr/>
        </p:nvGrpSpPr>
        <p:grpSpPr>
          <a:xfrm>
            <a:off x="2964742" y="435033"/>
            <a:ext cx="4241432" cy="4241432"/>
            <a:chOff x="2820225" y="891450"/>
            <a:chExt cx="3175200" cy="3175200"/>
          </a:xfrm>
        </p:grpSpPr>
        <p:sp>
          <p:nvSpPr>
            <p:cNvPr id="500" name="Google Shape;500;p59"/>
            <p:cNvSpPr/>
            <p:nvPr/>
          </p:nvSpPr>
          <p:spPr>
            <a:xfrm rot="10800000">
              <a:off x="2820225" y="891450"/>
              <a:ext cx="3175200" cy="3175200"/>
            </a:xfrm>
            <a:prstGeom prst="blockArc">
              <a:avLst>
                <a:gd fmla="val 5399801" name="adj1"/>
                <a:gd fmla="val 3012680" name="adj2"/>
                <a:gd fmla="val 6939" name="adj3"/>
              </a:avLst>
            </a:prstGeom>
            <a:solidFill>
              <a:srgbClr val="AAAAAA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59"/>
            <p:cNvSpPr/>
            <p:nvPr/>
          </p:nvSpPr>
          <p:spPr>
            <a:xfrm rot="10800000">
              <a:off x="3175023" y="1179900"/>
              <a:ext cx="450600" cy="450600"/>
            </a:xfrm>
            <a:prstGeom prst="rtTriangle">
              <a:avLst/>
            </a:prstGeom>
            <a:solidFill>
              <a:srgbClr val="AAAAAA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2" name="Google Shape;502;p59"/>
          <p:cNvGrpSpPr/>
          <p:nvPr/>
        </p:nvGrpSpPr>
        <p:grpSpPr>
          <a:xfrm>
            <a:off x="4194754" y="203990"/>
            <a:ext cx="1779686" cy="1221856"/>
            <a:chOff x="3798075" y="775532"/>
            <a:chExt cx="1332300" cy="914700"/>
          </a:xfrm>
        </p:grpSpPr>
        <p:sp>
          <p:nvSpPr>
            <p:cNvPr id="503" name="Google Shape;503;p59"/>
            <p:cNvSpPr/>
            <p:nvPr/>
          </p:nvSpPr>
          <p:spPr>
            <a:xfrm>
              <a:off x="3798075" y="1060532"/>
              <a:ext cx="1332300" cy="629700"/>
            </a:xfrm>
            <a:prstGeom prst="rect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t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Prompts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Models 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RAG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Agents </a:t>
              </a:r>
              <a:endParaRPr sz="2270">
                <a:solidFill>
                  <a:srgbClr val="FFFFFF"/>
                </a:solidFill>
              </a:endParaRPr>
            </a:p>
          </p:txBody>
        </p:sp>
        <p:sp>
          <p:nvSpPr>
            <p:cNvPr id="504" name="Google Shape;504;p59"/>
            <p:cNvSpPr/>
            <p:nvPr/>
          </p:nvSpPr>
          <p:spPr>
            <a:xfrm>
              <a:off x="3798075" y="775532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BUILD</a:t>
              </a:r>
              <a:endParaRPr sz="1469">
                <a:solidFill>
                  <a:srgbClr val="FFFFFF"/>
                </a:solidFill>
              </a:endParaRPr>
            </a:p>
          </p:txBody>
        </p:sp>
      </p:grpSp>
      <p:grpSp>
        <p:nvGrpSpPr>
          <p:cNvPr id="505" name="Google Shape;505;p59"/>
          <p:cNvGrpSpPr/>
          <p:nvPr/>
        </p:nvGrpSpPr>
        <p:grpSpPr>
          <a:xfrm>
            <a:off x="2084680" y="1897013"/>
            <a:ext cx="1779686" cy="1221856"/>
            <a:chOff x="2389575" y="2071477"/>
            <a:chExt cx="1332300" cy="914700"/>
          </a:xfrm>
        </p:grpSpPr>
        <p:sp>
          <p:nvSpPr>
            <p:cNvPr id="506" name="Google Shape;506;p59"/>
            <p:cNvSpPr/>
            <p:nvPr/>
          </p:nvSpPr>
          <p:spPr>
            <a:xfrm>
              <a:off x="2389575" y="2356477"/>
              <a:ext cx="1332300" cy="629700"/>
            </a:xfrm>
            <a:prstGeom prst="rect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t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Prompts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Routing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Retrieval </a:t>
              </a:r>
              <a:endParaRPr sz="2270">
                <a:solidFill>
                  <a:srgbClr val="FFFFFF"/>
                </a:solidFill>
              </a:endParaRPr>
            </a:p>
          </p:txBody>
        </p:sp>
        <p:sp>
          <p:nvSpPr>
            <p:cNvPr id="507" name="Google Shape;507;p59"/>
            <p:cNvSpPr/>
            <p:nvPr/>
          </p:nvSpPr>
          <p:spPr>
            <a:xfrm>
              <a:off x="2389575" y="207147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IMPROVE </a:t>
              </a:r>
              <a:endParaRPr sz="1469">
                <a:solidFill>
                  <a:srgbClr val="FFFFFF"/>
                </a:solidFill>
              </a:endParaRPr>
            </a:p>
          </p:txBody>
        </p:sp>
      </p:grpSp>
      <p:grpSp>
        <p:nvGrpSpPr>
          <p:cNvPr id="508" name="Google Shape;508;p59"/>
          <p:cNvGrpSpPr/>
          <p:nvPr/>
        </p:nvGrpSpPr>
        <p:grpSpPr>
          <a:xfrm>
            <a:off x="5517256" y="3628143"/>
            <a:ext cx="1779686" cy="1221522"/>
            <a:chOff x="4731075" y="3367427"/>
            <a:chExt cx="1332300" cy="914450"/>
          </a:xfrm>
        </p:grpSpPr>
        <p:sp>
          <p:nvSpPr>
            <p:cNvPr id="509" name="Google Shape;509;p59"/>
            <p:cNvSpPr/>
            <p:nvPr/>
          </p:nvSpPr>
          <p:spPr>
            <a:xfrm>
              <a:off x="4731075" y="3652177"/>
              <a:ext cx="1332300" cy="629700"/>
            </a:xfrm>
            <a:prstGeom prst="rect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t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Traces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Cost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Latency </a:t>
              </a:r>
              <a:endParaRPr sz="2270">
                <a:solidFill>
                  <a:srgbClr val="FFFFFF"/>
                </a:solidFill>
              </a:endParaRPr>
            </a:p>
          </p:txBody>
        </p:sp>
        <p:sp>
          <p:nvSpPr>
            <p:cNvPr id="510" name="Google Shape;510;p59"/>
            <p:cNvSpPr/>
            <p:nvPr/>
          </p:nvSpPr>
          <p:spPr>
            <a:xfrm>
              <a:off x="4731075" y="336742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OBSERVE </a:t>
              </a:r>
              <a:endParaRPr sz="1469">
                <a:solidFill>
                  <a:srgbClr val="FFFFFF"/>
                </a:solidFill>
              </a:endParaRPr>
            </a:p>
          </p:txBody>
        </p:sp>
      </p:grpSp>
      <p:grpSp>
        <p:nvGrpSpPr>
          <p:cNvPr id="511" name="Google Shape;511;p59"/>
          <p:cNvGrpSpPr/>
          <p:nvPr/>
        </p:nvGrpSpPr>
        <p:grpSpPr>
          <a:xfrm>
            <a:off x="2849797" y="3627809"/>
            <a:ext cx="1779686" cy="1221856"/>
            <a:chOff x="2734175" y="3367177"/>
            <a:chExt cx="1332300" cy="914700"/>
          </a:xfrm>
        </p:grpSpPr>
        <p:sp>
          <p:nvSpPr>
            <p:cNvPr id="512" name="Google Shape;512;p59"/>
            <p:cNvSpPr/>
            <p:nvPr/>
          </p:nvSpPr>
          <p:spPr>
            <a:xfrm>
              <a:off x="2734175" y="3652177"/>
              <a:ext cx="1332300" cy="629700"/>
            </a:xfrm>
            <a:prstGeom prst="rect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t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Quality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RAG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Agent </a:t>
              </a:r>
              <a:endParaRPr sz="2270">
                <a:solidFill>
                  <a:srgbClr val="FFFFFF"/>
                </a:solidFill>
              </a:endParaRPr>
            </a:p>
          </p:txBody>
        </p:sp>
        <p:sp>
          <p:nvSpPr>
            <p:cNvPr id="513" name="Google Shape;513;p59"/>
            <p:cNvSpPr/>
            <p:nvPr/>
          </p:nvSpPr>
          <p:spPr>
            <a:xfrm>
              <a:off x="2734175" y="336717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EVALUATE </a:t>
              </a:r>
              <a:endParaRPr sz="1469">
                <a:solidFill>
                  <a:srgbClr val="FFFFFF"/>
                </a:solidFill>
              </a:endParaRPr>
            </a:p>
          </p:txBody>
        </p:sp>
      </p:grpSp>
      <p:grpSp>
        <p:nvGrpSpPr>
          <p:cNvPr id="514" name="Google Shape;514;p59"/>
          <p:cNvGrpSpPr/>
          <p:nvPr/>
        </p:nvGrpSpPr>
        <p:grpSpPr>
          <a:xfrm>
            <a:off x="6342929" y="1897013"/>
            <a:ext cx="1779686" cy="1221856"/>
            <a:chOff x="5206575" y="2071477"/>
            <a:chExt cx="1332300" cy="914700"/>
          </a:xfrm>
        </p:grpSpPr>
        <p:sp>
          <p:nvSpPr>
            <p:cNvPr id="515" name="Google Shape;515;p59"/>
            <p:cNvSpPr/>
            <p:nvPr/>
          </p:nvSpPr>
          <p:spPr>
            <a:xfrm>
              <a:off x="5206575" y="2356477"/>
              <a:ext cx="1332300" cy="629700"/>
            </a:xfrm>
            <a:prstGeom prst="rect">
              <a:avLst/>
            </a:prstGeom>
            <a:solidFill>
              <a:srgbClr val="3D3D3D"/>
            </a:solidFill>
            <a:ln>
              <a:noFill/>
            </a:ln>
          </p:spPr>
          <p:txBody>
            <a:bodyPr anchorCtr="0" anchor="t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A/B Tests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CI/CD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Canary</a:t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6" name="Google Shape;516;p59"/>
            <p:cNvSpPr/>
            <p:nvPr/>
          </p:nvSpPr>
          <p:spPr>
            <a:xfrm>
              <a:off x="5206575" y="2071477"/>
              <a:ext cx="1332300" cy="285000"/>
            </a:xfrm>
            <a:prstGeom prst="round1Rect">
              <a:avLst>
                <a:gd fmla="val 50000" name="adj"/>
              </a:avLst>
            </a:prstGeom>
            <a:solidFill>
              <a:srgbClr val="2F2F2F"/>
            </a:solidFill>
            <a:ln>
              <a:noFill/>
            </a:ln>
          </p:spPr>
          <p:txBody>
            <a:bodyPr anchorCtr="0" anchor="ctr" bIns="122125" lIns="122125" spcFirstLastPara="1" rIns="122125" wrap="square" tIns="122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69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DEPLOY</a:t>
              </a:r>
              <a:endParaRPr sz="1469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0"/>
          <p:cNvSpPr txBox="1"/>
          <p:nvPr>
            <p:ph type="title"/>
          </p:nvPr>
        </p:nvSpPr>
        <p:spPr>
          <a:xfrm>
            <a:off x="361975" y="502975"/>
            <a:ext cx="4448400" cy="8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Operational Domains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/>
              <a:t>The Moving Parts…</a:t>
            </a:r>
            <a:endParaRPr i="1" sz="2700"/>
          </a:p>
        </p:txBody>
      </p:sp>
      <p:sp>
        <p:nvSpPr>
          <p:cNvPr id="522" name="Google Shape;522;p60"/>
          <p:cNvSpPr txBox="1"/>
          <p:nvPr/>
        </p:nvSpPr>
        <p:spPr>
          <a:xfrm>
            <a:off x="318100" y="1426400"/>
            <a:ext cx="29280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PromptOps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ModelOps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RAGOps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AgentOps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23" name="Google Shape;523;p60"/>
          <p:cNvCxnSpPr/>
          <p:nvPr/>
        </p:nvCxnSpPr>
        <p:spPr>
          <a:xfrm>
            <a:off x="3820200" y="66637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1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Model Ops &amp; Observability</a:t>
            </a:r>
            <a:endParaRPr i="1" sz="2700"/>
          </a:p>
        </p:txBody>
      </p:sp>
      <p:sp>
        <p:nvSpPr>
          <p:cNvPr id="529" name="Google Shape;529;p61"/>
          <p:cNvSpPr txBox="1"/>
          <p:nvPr/>
        </p:nvSpPr>
        <p:spPr>
          <a:xfrm>
            <a:off x="718150" y="1404025"/>
            <a:ext cx="5160000" cy="21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LiteLLM Proxy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DM Sans"/>
              <a:buChar char="-"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LangFuse dashboarding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2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Summary</a:t>
            </a:r>
            <a:endParaRPr i="1" sz="2700"/>
          </a:p>
        </p:txBody>
      </p:sp>
      <p:sp>
        <p:nvSpPr>
          <p:cNvPr id="535" name="Google Shape;535;p62"/>
          <p:cNvSpPr txBox="1"/>
          <p:nvPr/>
        </p:nvSpPr>
        <p:spPr>
          <a:xfrm>
            <a:off x="270700" y="1190125"/>
            <a:ext cx="7418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LLMOps is a continuous process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Robust LLMOps - Production Ready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Online Eval (observability Metrics) + Offline Eval (real data)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36" name="Google Shape;536;p62"/>
          <p:cNvCxnSpPr/>
          <p:nvPr/>
        </p:nvCxnSpPr>
        <p:spPr>
          <a:xfrm>
            <a:off x="8152875" y="126202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3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Assignment, Self-study</a:t>
            </a:r>
            <a:endParaRPr i="1" sz="2700"/>
          </a:p>
        </p:txBody>
      </p:sp>
      <p:sp>
        <p:nvSpPr>
          <p:cNvPr id="542" name="Google Shape;542;p63"/>
          <p:cNvSpPr txBox="1"/>
          <p:nvPr/>
        </p:nvSpPr>
        <p:spPr>
          <a:xfrm>
            <a:off x="270700" y="1047529"/>
            <a:ext cx="74187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Configure Langfuse cloud subscription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✔ Explore LiteLLM Proxy ()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43" name="Google Shape;543;p63"/>
          <p:cNvCxnSpPr/>
          <p:nvPr/>
        </p:nvCxnSpPr>
        <p:spPr>
          <a:xfrm>
            <a:off x="8152875" y="126202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4"/>
          <p:cNvSpPr txBox="1"/>
          <p:nvPr>
            <p:ph type="title"/>
          </p:nvPr>
        </p:nvSpPr>
        <p:spPr>
          <a:xfrm>
            <a:off x="2595000" y="1066100"/>
            <a:ext cx="38601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Thank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you…</a:t>
            </a:r>
            <a:endParaRPr i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5"/>
          <p:cNvSpPr txBox="1"/>
          <p:nvPr>
            <p:ph type="title"/>
          </p:nvPr>
        </p:nvSpPr>
        <p:spPr>
          <a:xfrm>
            <a:off x="2595000" y="1066100"/>
            <a:ext cx="3860100" cy="25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BACKUP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6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Guess the next, continued…</a:t>
            </a:r>
            <a:endParaRPr sz="2700"/>
          </a:p>
        </p:txBody>
      </p:sp>
      <p:sp>
        <p:nvSpPr>
          <p:cNvPr id="559" name="Google Shape;559;p66"/>
          <p:cNvSpPr txBox="1"/>
          <p:nvPr/>
        </p:nvSpPr>
        <p:spPr>
          <a:xfrm>
            <a:off x="5096399" y="598077"/>
            <a:ext cx="3412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 am doing 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0" name="Google Shape;56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975" y="1090687"/>
            <a:ext cx="6018664" cy="374801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66"/>
          <p:cNvSpPr txBox="1"/>
          <p:nvPr/>
        </p:nvSpPr>
        <p:spPr>
          <a:xfrm>
            <a:off x="6530650" y="1895400"/>
            <a:ext cx="211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Temperature = 0.1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7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Guess the next, continued…</a:t>
            </a:r>
            <a:endParaRPr sz="2700"/>
          </a:p>
        </p:txBody>
      </p:sp>
      <p:sp>
        <p:nvSpPr>
          <p:cNvPr id="567" name="Google Shape;567;p67"/>
          <p:cNvSpPr txBox="1"/>
          <p:nvPr/>
        </p:nvSpPr>
        <p:spPr>
          <a:xfrm>
            <a:off x="5096399" y="598077"/>
            <a:ext cx="3412800" cy="3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 am doing ?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68" name="Google Shape;568;p67"/>
          <p:cNvSpPr txBox="1"/>
          <p:nvPr/>
        </p:nvSpPr>
        <p:spPr>
          <a:xfrm>
            <a:off x="6530650" y="1895400"/>
            <a:ext cx="2117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Temperature = 0.8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69" name="Google Shape;5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891" y="1047017"/>
            <a:ext cx="5939505" cy="37480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5306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</p:pic>
      <p:cxnSp>
        <p:nvCxnSpPr>
          <p:cNvPr id="575" name="Google Shape;575;p68"/>
          <p:cNvCxnSpPr/>
          <p:nvPr/>
        </p:nvCxnSpPr>
        <p:spPr>
          <a:xfrm>
            <a:off x="933925" y="2070650"/>
            <a:ext cx="35700" cy="27093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68"/>
          <p:cNvCxnSpPr/>
          <p:nvPr/>
        </p:nvCxnSpPr>
        <p:spPr>
          <a:xfrm>
            <a:off x="4017575" y="3838675"/>
            <a:ext cx="9900" cy="10239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68"/>
          <p:cNvCxnSpPr/>
          <p:nvPr/>
        </p:nvCxnSpPr>
        <p:spPr>
          <a:xfrm>
            <a:off x="7734900" y="3838675"/>
            <a:ext cx="9900" cy="10239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68"/>
          <p:cNvCxnSpPr/>
          <p:nvPr/>
        </p:nvCxnSpPr>
        <p:spPr>
          <a:xfrm>
            <a:off x="1219125" y="4755747"/>
            <a:ext cx="2673600" cy="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79" name="Google Shape;579;p68"/>
          <p:cNvCxnSpPr/>
          <p:nvPr/>
        </p:nvCxnSpPr>
        <p:spPr>
          <a:xfrm>
            <a:off x="4160175" y="4773575"/>
            <a:ext cx="3467700" cy="63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9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What are </a:t>
            </a:r>
            <a:r>
              <a:rPr i="1" lang="en" sz="2700"/>
              <a:t>TOKENS…?</a:t>
            </a:r>
            <a:endParaRPr i="1" sz="2700"/>
          </a:p>
        </p:txBody>
      </p:sp>
      <p:sp>
        <p:nvSpPr>
          <p:cNvPr id="585" name="Google Shape;585;p69"/>
          <p:cNvSpPr txBox="1"/>
          <p:nvPr/>
        </p:nvSpPr>
        <p:spPr>
          <a:xfrm>
            <a:off x="270700" y="1190125"/>
            <a:ext cx="25884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Why do we care?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Pricing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Speed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 Window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6" name="Google Shape;586;p69"/>
          <p:cNvSpPr txBox="1"/>
          <p:nvPr/>
        </p:nvSpPr>
        <p:spPr>
          <a:xfrm>
            <a:off x="3286775" y="1101000"/>
            <a:ext cx="4028400" cy="3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“Artificial Intelligence 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is amazing”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“Unbelievable”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“Playification”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“Supercalifragilisticexpialidocious“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こんにちは 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7" name="Google Shape;587;p69"/>
          <p:cNvSpPr txBox="1"/>
          <p:nvPr/>
        </p:nvSpPr>
        <p:spPr>
          <a:xfrm>
            <a:off x="6566500" y="1090675"/>
            <a:ext cx="2467500" cy="3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[‘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Artificial’, ‘intelligence’, ‘is’, ‘amazing’]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[‘Un’,   ‘believ’,  ‘able’]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588" name="Google Shape;588;p69"/>
          <p:cNvCxnSpPr/>
          <p:nvPr/>
        </p:nvCxnSpPr>
        <p:spPr>
          <a:xfrm>
            <a:off x="3055050" y="1262025"/>
            <a:ext cx="35700" cy="335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69"/>
          <p:cNvSpPr txBox="1"/>
          <p:nvPr/>
        </p:nvSpPr>
        <p:spPr>
          <a:xfrm>
            <a:off x="361975" y="3243900"/>
            <a:ext cx="2588400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Ch-tok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Word-tok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Subword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Byte-Pair-Enc.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…</a:t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0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700"/>
              <a:t>Tokenization</a:t>
            </a:r>
            <a:endParaRPr i="1" sz="2700"/>
          </a:p>
        </p:txBody>
      </p:sp>
      <p:cxnSp>
        <p:nvCxnSpPr>
          <p:cNvPr id="595" name="Google Shape;595;p70"/>
          <p:cNvCxnSpPr/>
          <p:nvPr/>
        </p:nvCxnSpPr>
        <p:spPr>
          <a:xfrm>
            <a:off x="5421166" y="1090675"/>
            <a:ext cx="4500" cy="3433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96" name="Google Shape;596;p70"/>
          <p:cNvGraphicFramePr/>
          <p:nvPr/>
        </p:nvGraphicFramePr>
        <p:xfrm>
          <a:off x="2543682" y="6396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{36F4A080-789B-4744-A9E6-1285E12EEAE4}</a:tableStyleId>
              </a:tblPr>
              <a:tblGrid>
                <a:gridCol w="3013250"/>
                <a:gridCol w="3376625"/>
              </a:tblGrid>
              <a:tr h="353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Model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dk1"/>
                          </a:solidFill>
                        </a:rPr>
                        <a:t>Tokenizer</a:t>
                      </a:r>
                      <a:endParaRPr b="1" sz="1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GPT-2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Byte Pair Encoding (BPE)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GPT-3 / GPT-4 / GPT-5 family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Byte-level BPE (OpenAI variants)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Llama 2 / 3 / 3.2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SentencePiece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Gemma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SentencePiece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Mistral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SentencePiece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Qwen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Byte-level BPE variant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7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DeepSeek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</a:rPr>
                        <a:t>BPE-based tokenize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1"/>
          <p:cNvSpPr txBox="1"/>
          <p:nvPr>
            <p:ph type="title"/>
          </p:nvPr>
        </p:nvSpPr>
        <p:spPr>
          <a:xfrm>
            <a:off x="361975" y="502987"/>
            <a:ext cx="51600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Context…</a:t>
            </a:r>
            <a:endParaRPr i="1" sz="2700"/>
          </a:p>
        </p:txBody>
      </p:sp>
      <p:sp>
        <p:nvSpPr>
          <p:cNvPr id="602" name="Google Shape;602;p71"/>
          <p:cNvSpPr txBox="1"/>
          <p:nvPr/>
        </p:nvSpPr>
        <p:spPr>
          <a:xfrm>
            <a:off x="270700" y="1190125"/>
            <a:ext cx="4887600" cy="3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number of tokens that for the current input to the LLM -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</a:t>
            </a: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total capacity (in token terms) of input -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 window</a:t>
            </a: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b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M Sans"/>
              <a:buChar char="-"/>
            </a:pPr>
            <a:r>
              <a:rPr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model's fundamental unit of computation - </a:t>
            </a:r>
            <a:r>
              <a:rPr i="1" lang="en" sz="1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tokens</a:t>
            </a:r>
            <a:endParaRPr i="1"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603" name="Google Shape;603;p71"/>
          <p:cNvCxnSpPr/>
          <p:nvPr/>
        </p:nvCxnSpPr>
        <p:spPr>
          <a:xfrm>
            <a:off x="8152875" y="1262025"/>
            <a:ext cx="0" cy="354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2"/>
          <p:cNvSpPr txBox="1"/>
          <p:nvPr>
            <p:ph type="title"/>
          </p:nvPr>
        </p:nvSpPr>
        <p:spPr>
          <a:xfrm>
            <a:off x="286525" y="300449"/>
            <a:ext cx="1369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LLM</a:t>
            </a:r>
            <a:endParaRPr i="1" sz="1900"/>
          </a:p>
        </p:txBody>
      </p:sp>
      <p:sp>
        <p:nvSpPr>
          <p:cNvPr id="609" name="Google Shape;609;p72"/>
          <p:cNvSpPr txBox="1"/>
          <p:nvPr>
            <p:ph idx="1" type="subTitle"/>
          </p:nvPr>
        </p:nvSpPr>
        <p:spPr>
          <a:xfrm>
            <a:off x="331477" y="1066091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HIGH LEVEL </a:t>
            </a:r>
            <a:endParaRPr i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/>
              <a:t>ARCH.</a:t>
            </a:r>
            <a:endParaRPr i="1" sz="1500"/>
          </a:p>
        </p:txBody>
      </p:sp>
      <p:pic>
        <p:nvPicPr>
          <p:cNvPr id="610" name="Google Shape;61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2969" y="117080"/>
            <a:ext cx="7297079" cy="4864676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72"/>
          <p:cNvSpPr txBox="1"/>
          <p:nvPr/>
        </p:nvSpPr>
        <p:spPr>
          <a:xfrm>
            <a:off x="286525" y="1984050"/>
            <a:ext cx="12534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One token 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at a time…</a:t>
            </a:r>
            <a:endParaRPr i="1"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6" name="Google Shape;616;p73"/>
          <p:cNvGraphicFramePr/>
          <p:nvPr/>
        </p:nvGraphicFramePr>
        <p:xfrm>
          <a:off x="636942" y="8141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{0CEE7728-9F4F-4B89-9854-466EE841ED7F}</a:tableStyleId>
              </a:tblPr>
              <a:tblGrid>
                <a:gridCol w="2374400"/>
                <a:gridCol w="5455125"/>
              </a:tblGrid>
              <a:tr h="104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WEEK-1, 2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 Fundamentals and Evaluation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LLM fundamentals (evol. From NN / DL)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Prompting architectures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Agentic Foundation (Agentic Arch. patterns)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Metrics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: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BLEU/ROUGE, Ctx-precision, Recall, Relevance, …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Intro to RAGAS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104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WEEK-2, 3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Agentic AI with N8N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Nodes, Workflows, Triggers,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API Calling, Webhooks,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LLM Integration, Statelessness, Model abstraction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Tool calling, memory (statefulness), Conv. history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Agent Routing, Multi-agent arch.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2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WEEK-4, 5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RAG Architecture (N8N)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RAG, EMbedding Fundamentals,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Similarity Search, Vector-DB (Qdrant)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Data-Ingestion,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Enrichment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, Retrieval Strategies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WEEK- 6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LangFuse, LLMOps</a:t>
                      </a:r>
                      <a:endParaRPr b="1" sz="13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Telemetry using LiteLLM Proxy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Online and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Offline Evals (RAGAS)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LangFuse Dashboarding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17" name="Google Shape;617;p73"/>
          <p:cNvSpPr txBox="1"/>
          <p:nvPr/>
        </p:nvSpPr>
        <p:spPr>
          <a:xfrm>
            <a:off x="491125" y="239904"/>
            <a:ext cx="53088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WEEK-WISE  SCHEDULE</a:t>
            </a:r>
            <a:endParaRPr sz="2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4"/>
          <p:cNvSpPr txBox="1"/>
          <p:nvPr/>
        </p:nvSpPr>
        <p:spPr>
          <a:xfrm>
            <a:off x="491125" y="369300"/>
            <a:ext cx="1245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INFRA</a:t>
            </a:r>
            <a:endParaRPr sz="2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graphicFrame>
        <p:nvGraphicFramePr>
          <p:cNvPr id="623" name="Google Shape;623;p74"/>
          <p:cNvGraphicFramePr/>
          <p:nvPr/>
        </p:nvGraphicFramePr>
        <p:xfrm>
          <a:off x="1879400" y="574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{0CEE7728-9F4F-4B89-9854-466EE841ED7F}</a:tableStyleId>
              </a:tblPr>
              <a:tblGrid>
                <a:gridCol w="3513675"/>
              </a:tblGrid>
              <a:tr h="393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OPTION 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2202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Local docker-container based setup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Requires Laptop(win) / MacBook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16GB RAM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500GB HDD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Installation instructions will be shared for self-hosting.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 guidance provided for setup/installation in the bootcamp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24" name="Google Shape;624;p74"/>
          <p:cNvGraphicFramePr/>
          <p:nvPr/>
        </p:nvGraphicFramePr>
        <p:xfrm>
          <a:off x="5393075" y="5742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{0CEE7728-9F4F-4B89-9854-466EE841ED7F}</a:tableStyleId>
              </a:tblPr>
              <a:tblGrid>
                <a:gridCol w="3383600"/>
              </a:tblGrid>
              <a:tr h="260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OPTION 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21755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Hosted on service provide cloud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Use limited-period trial 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licenses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(free period):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N8N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LangFuse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Requires usual laptop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No guidance provided for setup/installation in the bootcamp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625" name="Google Shape;625;p74"/>
          <p:cNvSpPr txBox="1"/>
          <p:nvPr/>
        </p:nvSpPr>
        <p:spPr>
          <a:xfrm>
            <a:off x="408900" y="3476882"/>
            <a:ext cx="2169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AI Licenses</a:t>
            </a:r>
            <a:endParaRPr sz="27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graphicFrame>
        <p:nvGraphicFramePr>
          <p:cNvPr id="626" name="Google Shape;626;p74"/>
          <p:cNvGraphicFramePr/>
          <p:nvPr/>
        </p:nvGraphicFramePr>
        <p:xfrm>
          <a:off x="2423700" y="36773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{0CEE7728-9F4F-4B89-9854-466EE841ED7F}</a:tableStyleId>
              </a:tblPr>
              <a:tblGrid>
                <a:gridCol w="6150100"/>
              </a:tblGrid>
              <a:tr h="510500">
                <a:tc>
                  <a:txBody>
                    <a:bodyPr/>
                    <a:lstStyle/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OpenAI - $5 token prepaid (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optional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Groq / Llama3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Huggingface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Char char="-"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QDrant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75"/>
          <p:cNvSpPr txBox="1"/>
          <p:nvPr>
            <p:ph type="title"/>
          </p:nvPr>
        </p:nvSpPr>
        <p:spPr>
          <a:xfrm>
            <a:off x="363825" y="535050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LEARNING OUTCOMES</a:t>
            </a:r>
            <a:endParaRPr sz="2700"/>
          </a:p>
        </p:txBody>
      </p:sp>
      <p:sp>
        <p:nvSpPr>
          <p:cNvPr id="632" name="Google Shape;632;p75"/>
          <p:cNvSpPr txBox="1"/>
          <p:nvPr>
            <p:ph idx="3" type="body"/>
          </p:nvPr>
        </p:nvSpPr>
        <p:spPr>
          <a:xfrm>
            <a:off x="317550" y="1583950"/>
            <a:ext cx="4024500" cy="25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50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Understand modern AI architecture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Build Agentic workflows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Evaluate AI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Implement RAG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-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Understand LLMOps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633" name="Google Shape;633;p75"/>
          <p:cNvSpPr txBox="1"/>
          <p:nvPr>
            <p:ph idx="1" type="subTitle"/>
          </p:nvPr>
        </p:nvSpPr>
        <p:spPr>
          <a:xfrm>
            <a:off x="1790725" y="4591258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Sujeet Banerjee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4" name="Google Shape;63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8950" y="77725"/>
            <a:ext cx="4444174" cy="500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825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